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664"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AC4DE5-8829-4557-90DF-93631F40E3A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620B1ED-B1F2-4C18-AE99-92226B3A7CE5}">
      <dgm:prSet/>
      <dgm:spPr/>
      <dgm:t>
        <a:bodyPr/>
        <a:lstStyle/>
        <a:p>
          <a:r>
            <a:rPr lang="en-US" b="1"/>
            <a:t>PostgreSQL</a:t>
          </a:r>
          <a:r>
            <a:rPr lang="en-US"/>
            <a:t> is an enterprise-class open source database management system. It supports both SQL and JSON for relational and non-relational queries for extensibility and SQL compliance. PostgreSQL supports advanced data types and performance optimization features, which are only available in expensive commercial databases, like Oracle and SQL Server. It is also known as Postgres.</a:t>
          </a:r>
        </a:p>
      </dgm:t>
    </dgm:pt>
    <dgm:pt modelId="{F18E79C0-7A52-4CAF-9CA9-77ACCFA83C7F}" type="parTrans" cxnId="{415F5FF8-C630-4271-84CF-A9DA2606799B}">
      <dgm:prSet/>
      <dgm:spPr/>
      <dgm:t>
        <a:bodyPr/>
        <a:lstStyle/>
        <a:p>
          <a:endParaRPr lang="en-US"/>
        </a:p>
      </dgm:t>
    </dgm:pt>
    <dgm:pt modelId="{72EC84C0-3000-4C27-9D7A-A5EECA878BAF}" type="sibTrans" cxnId="{415F5FF8-C630-4271-84CF-A9DA2606799B}">
      <dgm:prSet/>
      <dgm:spPr/>
      <dgm:t>
        <a:bodyPr/>
        <a:lstStyle/>
        <a:p>
          <a:endParaRPr lang="en-US"/>
        </a:p>
      </dgm:t>
    </dgm:pt>
    <dgm:pt modelId="{480F1666-72F7-48F5-B2C5-454D52817A1B}">
      <dgm:prSet/>
      <dgm:spPr/>
      <dgm:t>
        <a:bodyPr/>
        <a:lstStyle/>
        <a:p>
          <a:r>
            <a:rPr lang="en-US"/>
            <a:t>PostgreSQL can run dynamic websites and web apps as a LAMP stack option.</a:t>
          </a:r>
        </a:p>
      </dgm:t>
    </dgm:pt>
    <dgm:pt modelId="{5C20B1CA-2D30-447C-8DA7-31BFB9C087F1}" type="parTrans" cxnId="{C7A7C575-2D7B-4D5F-9B47-DD44479F0F5A}">
      <dgm:prSet/>
      <dgm:spPr/>
      <dgm:t>
        <a:bodyPr/>
        <a:lstStyle/>
        <a:p>
          <a:endParaRPr lang="en-US"/>
        </a:p>
      </dgm:t>
    </dgm:pt>
    <dgm:pt modelId="{D175EE83-F1C4-4121-8294-B7EA696B0AF5}" type="sibTrans" cxnId="{C7A7C575-2D7B-4D5F-9B47-DD44479F0F5A}">
      <dgm:prSet/>
      <dgm:spPr/>
      <dgm:t>
        <a:bodyPr/>
        <a:lstStyle/>
        <a:p>
          <a:endParaRPr lang="en-US"/>
        </a:p>
      </dgm:t>
    </dgm:pt>
    <dgm:pt modelId="{C69F9ABF-669D-4BD0-B26D-B6DA26FC19DE}">
      <dgm:prSet/>
      <dgm:spPr/>
      <dgm:t>
        <a:bodyPr/>
        <a:lstStyle/>
        <a:p>
          <a:r>
            <a:rPr lang="en-US"/>
            <a:t>PostgreSQL’s write-ahead logging makes it a highly fault-tolerant database.</a:t>
          </a:r>
        </a:p>
      </dgm:t>
    </dgm:pt>
    <dgm:pt modelId="{7225CA79-20A7-4664-B477-D3C0B5CAF837}" type="parTrans" cxnId="{A52BA61A-AAB8-46EA-BA14-8FE97EED4375}">
      <dgm:prSet/>
      <dgm:spPr/>
      <dgm:t>
        <a:bodyPr/>
        <a:lstStyle/>
        <a:p>
          <a:endParaRPr lang="en-US"/>
        </a:p>
      </dgm:t>
    </dgm:pt>
    <dgm:pt modelId="{1E631594-DDAA-4FB5-9120-F2FD12F04037}" type="sibTrans" cxnId="{A52BA61A-AAB8-46EA-BA14-8FE97EED4375}">
      <dgm:prSet/>
      <dgm:spPr/>
      <dgm:t>
        <a:bodyPr/>
        <a:lstStyle/>
        <a:p>
          <a:endParaRPr lang="en-US"/>
        </a:p>
      </dgm:t>
    </dgm:pt>
    <dgm:pt modelId="{C98AF6FF-EECE-4B1D-9D5A-24E9334F1CCC}">
      <dgm:prSet/>
      <dgm:spPr/>
      <dgm:t>
        <a:bodyPr/>
        <a:lstStyle/>
        <a:p>
          <a:r>
            <a:rPr lang="en-US"/>
            <a:t>PostgreSQL source code is freely available under an open source license. This allows </a:t>
          </a:r>
        </a:p>
      </dgm:t>
    </dgm:pt>
    <dgm:pt modelId="{79A16259-3664-4031-AD6F-199103BCA944}" type="parTrans" cxnId="{97F5A4EA-D3AB-41DC-9C28-D614D8DA408E}">
      <dgm:prSet/>
      <dgm:spPr/>
      <dgm:t>
        <a:bodyPr/>
        <a:lstStyle/>
        <a:p>
          <a:endParaRPr lang="en-US"/>
        </a:p>
      </dgm:t>
    </dgm:pt>
    <dgm:pt modelId="{73EE000C-650A-4295-AE51-F3D5694A06B1}" type="sibTrans" cxnId="{97F5A4EA-D3AB-41DC-9C28-D614D8DA408E}">
      <dgm:prSet/>
      <dgm:spPr/>
      <dgm:t>
        <a:bodyPr/>
        <a:lstStyle/>
        <a:p>
          <a:endParaRPr lang="en-US"/>
        </a:p>
      </dgm:t>
    </dgm:pt>
    <dgm:pt modelId="{16B7A3D1-43C9-4E2A-B589-7E6764919080}">
      <dgm:prSet/>
      <dgm:spPr/>
      <dgm:t>
        <a:bodyPr/>
        <a:lstStyle/>
        <a:p>
          <a:r>
            <a:rPr lang="en-US"/>
            <a:t>you the freedom to use, modify, and implement it as per your business needs.</a:t>
          </a:r>
        </a:p>
      </dgm:t>
    </dgm:pt>
    <dgm:pt modelId="{41803243-2D4B-4EC9-AE65-90F1182E1FF7}" type="parTrans" cxnId="{B6A79209-26E2-4816-AB9D-8AE3B2EB90C3}">
      <dgm:prSet/>
      <dgm:spPr/>
      <dgm:t>
        <a:bodyPr/>
        <a:lstStyle/>
        <a:p>
          <a:endParaRPr lang="en-US"/>
        </a:p>
      </dgm:t>
    </dgm:pt>
    <dgm:pt modelId="{85867E6D-B79E-4996-BBD3-D9C48F9CE0EC}" type="sibTrans" cxnId="{B6A79209-26E2-4816-AB9D-8AE3B2EB90C3}">
      <dgm:prSet/>
      <dgm:spPr/>
      <dgm:t>
        <a:bodyPr/>
        <a:lstStyle/>
        <a:p>
          <a:endParaRPr lang="en-US"/>
        </a:p>
      </dgm:t>
    </dgm:pt>
    <dgm:pt modelId="{ECB682D5-51FF-4DEE-8B8A-7619339C3B2C}">
      <dgm:prSet/>
      <dgm:spPr/>
      <dgm:t>
        <a:bodyPr/>
        <a:lstStyle/>
        <a:p>
          <a:r>
            <a:rPr lang="en-US"/>
            <a:t>PostgreSQL supports geographic objects so you can use it for location-based services and geographic information systems.</a:t>
          </a:r>
        </a:p>
      </dgm:t>
    </dgm:pt>
    <dgm:pt modelId="{F373E909-4B8D-4CDC-8582-212658AC8433}" type="parTrans" cxnId="{5A1E87E5-93CD-4D2C-A314-AB3B901B1086}">
      <dgm:prSet/>
      <dgm:spPr/>
      <dgm:t>
        <a:bodyPr/>
        <a:lstStyle/>
        <a:p>
          <a:endParaRPr lang="en-US"/>
        </a:p>
      </dgm:t>
    </dgm:pt>
    <dgm:pt modelId="{6EF5EC17-F0A6-4256-AE88-C04C12E57978}" type="sibTrans" cxnId="{5A1E87E5-93CD-4D2C-A314-AB3B901B1086}">
      <dgm:prSet/>
      <dgm:spPr/>
      <dgm:t>
        <a:bodyPr/>
        <a:lstStyle/>
        <a:p>
          <a:endParaRPr lang="en-US"/>
        </a:p>
      </dgm:t>
    </dgm:pt>
    <dgm:pt modelId="{476C689A-9355-468B-92C8-CEE6B78BBAB1}">
      <dgm:prSet/>
      <dgm:spPr/>
      <dgm:t>
        <a:bodyPr/>
        <a:lstStyle/>
        <a:p>
          <a:r>
            <a:rPr lang="en-US"/>
            <a:t>PostgreSQL supports geographic objects so it can be used as a geospatial data store for location-based services and geographic information systems.</a:t>
          </a:r>
        </a:p>
      </dgm:t>
    </dgm:pt>
    <dgm:pt modelId="{18B062F0-AFDE-434F-8170-7EABEDF056E4}" type="parTrans" cxnId="{16E8BC42-191F-488E-9491-A2C5799D575D}">
      <dgm:prSet/>
      <dgm:spPr/>
      <dgm:t>
        <a:bodyPr/>
        <a:lstStyle/>
        <a:p>
          <a:endParaRPr lang="en-US"/>
        </a:p>
      </dgm:t>
    </dgm:pt>
    <dgm:pt modelId="{4B0A0BED-0708-441B-913C-8818552BD4BE}" type="sibTrans" cxnId="{16E8BC42-191F-488E-9491-A2C5799D575D}">
      <dgm:prSet/>
      <dgm:spPr/>
      <dgm:t>
        <a:bodyPr/>
        <a:lstStyle/>
        <a:p>
          <a:endParaRPr lang="en-US"/>
        </a:p>
      </dgm:t>
    </dgm:pt>
    <dgm:pt modelId="{DA989B60-7D54-4089-BF6B-656645BB44A6}">
      <dgm:prSet/>
      <dgm:spPr/>
      <dgm:t>
        <a:bodyPr/>
        <a:lstStyle/>
        <a:p>
          <a:r>
            <a:rPr lang="en-US"/>
            <a:t>To learn Postgres, you don’t need much training as its easy to use.</a:t>
          </a:r>
        </a:p>
      </dgm:t>
    </dgm:pt>
    <dgm:pt modelId="{9423F2D5-D6AF-453A-A1DE-CE85D745B795}" type="parTrans" cxnId="{43FFDD02-70DC-4435-8575-C8127B954921}">
      <dgm:prSet/>
      <dgm:spPr/>
      <dgm:t>
        <a:bodyPr/>
        <a:lstStyle/>
        <a:p>
          <a:endParaRPr lang="en-US"/>
        </a:p>
      </dgm:t>
    </dgm:pt>
    <dgm:pt modelId="{ECF41F56-A71A-46B0-A92C-C5D8300E4AE4}" type="sibTrans" cxnId="{43FFDD02-70DC-4435-8575-C8127B954921}">
      <dgm:prSet/>
      <dgm:spPr/>
      <dgm:t>
        <a:bodyPr/>
        <a:lstStyle/>
        <a:p>
          <a:endParaRPr lang="en-US"/>
        </a:p>
      </dgm:t>
    </dgm:pt>
    <dgm:pt modelId="{7EB71BF5-FBCF-4CA6-ADDE-15F721FD557A}">
      <dgm:prSet/>
      <dgm:spPr/>
      <dgm:t>
        <a:bodyPr/>
        <a:lstStyle/>
        <a:p>
          <a:r>
            <a:rPr lang="en-US"/>
            <a:t>Low maintenance and administration for both embedded and enterprise use of PostgreSQL.</a:t>
          </a:r>
        </a:p>
      </dgm:t>
    </dgm:pt>
    <dgm:pt modelId="{F985DF2A-45AB-4929-B28F-B16A7F197E2E}" type="parTrans" cxnId="{D1CC803C-91B4-48B3-A94D-CAB490BD15FD}">
      <dgm:prSet/>
      <dgm:spPr/>
      <dgm:t>
        <a:bodyPr/>
        <a:lstStyle/>
        <a:p>
          <a:endParaRPr lang="en-US"/>
        </a:p>
      </dgm:t>
    </dgm:pt>
    <dgm:pt modelId="{3DA0414F-9CEC-43D7-940D-76B3E7E54B52}" type="sibTrans" cxnId="{D1CC803C-91B4-48B3-A94D-CAB490BD15FD}">
      <dgm:prSet/>
      <dgm:spPr/>
      <dgm:t>
        <a:bodyPr/>
        <a:lstStyle/>
        <a:p>
          <a:endParaRPr lang="en-US"/>
        </a:p>
      </dgm:t>
    </dgm:pt>
    <dgm:pt modelId="{B71E0FAB-BBC3-4D3E-A321-A367D2A6D551}" type="pres">
      <dgm:prSet presAssocID="{85AC4DE5-8829-4557-90DF-93631F40E3AB}" presName="linear" presStyleCnt="0">
        <dgm:presLayoutVars>
          <dgm:animLvl val="lvl"/>
          <dgm:resizeHandles val="exact"/>
        </dgm:presLayoutVars>
      </dgm:prSet>
      <dgm:spPr/>
    </dgm:pt>
    <dgm:pt modelId="{643BD317-907B-4667-BB80-29CBA5E4F754}" type="pres">
      <dgm:prSet presAssocID="{B620B1ED-B1F2-4C18-AE99-92226B3A7CE5}" presName="parentText" presStyleLbl="node1" presStyleIdx="0" presStyleCnt="9">
        <dgm:presLayoutVars>
          <dgm:chMax val="0"/>
          <dgm:bulletEnabled val="1"/>
        </dgm:presLayoutVars>
      </dgm:prSet>
      <dgm:spPr/>
    </dgm:pt>
    <dgm:pt modelId="{6C6E03EB-1E4A-47D8-871A-795508621527}" type="pres">
      <dgm:prSet presAssocID="{72EC84C0-3000-4C27-9D7A-A5EECA878BAF}" presName="spacer" presStyleCnt="0"/>
      <dgm:spPr/>
    </dgm:pt>
    <dgm:pt modelId="{6C74B512-9602-41C0-9BEE-F3B223199F2E}" type="pres">
      <dgm:prSet presAssocID="{480F1666-72F7-48F5-B2C5-454D52817A1B}" presName="parentText" presStyleLbl="node1" presStyleIdx="1" presStyleCnt="9">
        <dgm:presLayoutVars>
          <dgm:chMax val="0"/>
          <dgm:bulletEnabled val="1"/>
        </dgm:presLayoutVars>
      </dgm:prSet>
      <dgm:spPr/>
    </dgm:pt>
    <dgm:pt modelId="{5F4AC84B-FBB3-4FE3-A910-3376558D7164}" type="pres">
      <dgm:prSet presAssocID="{D175EE83-F1C4-4121-8294-B7EA696B0AF5}" presName="spacer" presStyleCnt="0"/>
      <dgm:spPr/>
    </dgm:pt>
    <dgm:pt modelId="{2FC2369F-384E-40B5-8016-4AD4EA9026A6}" type="pres">
      <dgm:prSet presAssocID="{C69F9ABF-669D-4BD0-B26D-B6DA26FC19DE}" presName="parentText" presStyleLbl="node1" presStyleIdx="2" presStyleCnt="9">
        <dgm:presLayoutVars>
          <dgm:chMax val="0"/>
          <dgm:bulletEnabled val="1"/>
        </dgm:presLayoutVars>
      </dgm:prSet>
      <dgm:spPr/>
    </dgm:pt>
    <dgm:pt modelId="{769F5607-D8F6-4815-8263-17B37D86F714}" type="pres">
      <dgm:prSet presAssocID="{1E631594-DDAA-4FB5-9120-F2FD12F04037}" presName="spacer" presStyleCnt="0"/>
      <dgm:spPr/>
    </dgm:pt>
    <dgm:pt modelId="{BD9C60D1-2305-4AC6-B88D-BA140B6A17B2}" type="pres">
      <dgm:prSet presAssocID="{C98AF6FF-EECE-4B1D-9D5A-24E9334F1CCC}" presName="parentText" presStyleLbl="node1" presStyleIdx="3" presStyleCnt="9">
        <dgm:presLayoutVars>
          <dgm:chMax val="0"/>
          <dgm:bulletEnabled val="1"/>
        </dgm:presLayoutVars>
      </dgm:prSet>
      <dgm:spPr/>
    </dgm:pt>
    <dgm:pt modelId="{B6969DAC-5464-4D34-AD93-50A845567B5D}" type="pres">
      <dgm:prSet presAssocID="{73EE000C-650A-4295-AE51-F3D5694A06B1}" presName="spacer" presStyleCnt="0"/>
      <dgm:spPr/>
    </dgm:pt>
    <dgm:pt modelId="{0FAE9B4D-9A4B-4B4B-B60B-5D7E14E58715}" type="pres">
      <dgm:prSet presAssocID="{16B7A3D1-43C9-4E2A-B589-7E6764919080}" presName="parentText" presStyleLbl="node1" presStyleIdx="4" presStyleCnt="9">
        <dgm:presLayoutVars>
          <dgm:chMax val="0"/>
          <dgm:bulletEnabled val="1"/>
        </dgm:presLayoutVars>
      </dgm:prSet>
      <dgm:spPr/>
    </dgm:pt>
    <dgm:pt modelId="{AE4D6960-C8BA-405B-872F-9052A75F1051}" type="pres">
      <dgm:prSet presAssocID="{85867E6D-B79E-4996-BBD3-D9C48F9CE0EC}" presName="spacer" presStyleCnt="0"/>
      <dgm:spPr/>
    </dgm:pt>
    <dgm:pt modelId="{953E3DC2-DFC1-4156-A702-39DA70165628}" type="pres">
      <dgm:prSet presAssocID="{ECB682D5-51FF-4DEE-8B8A-7619339C3B2C}" presName="parentText" presStyleLbl="node1" presStyleIdx="5" presStyleCnt="9">
        <dgm:presLayoutVars>
          <dgm:chMax val="0"/>
          <dgm:bulletEnabled val="1"/>
        </dgm:presLayoutVars>
      </dgm:prSet>
      <dgm:spPr/>
    </dgm:pt>
    <dgm:pt modelId="{9652359D-0A1F-470B-AA13-D76FA3B92096}" type="pres">
      <dgm:prSet presAssocID="{6EF5EC17-F0A6-4256-AE88-C04C12E57978}" presName="spacer" presStyleCnt="0"/>
      <dgm:spPr/>
    </dgm:pt>
    <dgm:pt modelId="{D72F5BE6-6D0D-4492-B7B0-5BFBAF49986F}" type="pres">
      <dgm:prSet presAssocID="{476C689A-9355-468B-92C8-CEE6B78BBAB1}" presName="parentText" presStyleLbl="node1" presStyleIdx="6" presStyleCnt="9">
        <dgm:presLayoutVars>
          <dgm:chMax val="0"/>
          <dgm:bulletEnabled val="1"/>
        </dgm:presLayoutVars>
      </dgm:prSet>
      <dgm:spPr/>
    </dgm:pt>
    <dgm:pt modelId="{3A884221-BA61-45AC-A43D-2F3E63B194C3}" type="pres">
      <dgm:prSet presAssocID="{4B0A0BED-0708-441B-913C-8818552BD4BE}" presName="spacer" presStyleCnt="0"/>
      <dgm:spPr/>
    </dgm:pt>
    <dgm:pt modelId="{C6B9AD8E-D522-477D-B541-7B2359A4565D}" type="pres">
      <dgm:prSet presAssocID="{DA989B60-7D54-4089-BF6B-656645BB44A6}" presName="parentText" presStyleLbl="node1" presStyleIdx="7" presStyleCnt="9">
        <dgm:presLayoutVars>
          <dgm:chMax val="0"/>
          <dgm:bulletEnabled val="1"/>
        </dgm:presLayoutVars>
      </dgm:prSet>
      <dgm:spPr/>
    </dgm:pt>
    <dgm:pt modelId="{42E62B42-AD91-44C6-AAC7-C497C760BB44}" type="pres">
      <dgm:prSet presAssocID="{ECF41F56-A71A-46B0-A92C-C5D8300E4AE4}" presName="spacer" presStyleCnt="0"/>
      <dgm:spPr/>
    </dgm:pt>
    <dgm:pt modelId="{8085C8D7-FE5A-4E19-B1DC-9ED1C5AA0A30}" type="pres">
      <dgm:prSet presAssocID="{7EB71BF5-FBCF-4CA6-ADDE-15F721FD557A}" presName="parentText" presStyleLbl="node1" presStyleIdx="8" presStyleCnt="9">
        <dgm:presLayoutVars>
          <dgm:chMax val="0"/>
          <dgm:bulletEnabled val="1"/>
        </dgm:presLayoutVars>
      </dgm:prSet>
      <dgm:spPr/>
    </dgm:pt>
  </dgm:ptLst>
  <dgm:cxnLst>
    <dgm:cxn modelId="{43FFDD02-70DC-4435-8575-C8127B954921}" srcId="{85AC4DE5-8829-4557-90DF-93631F40E3AB}" destId="{DA989B60-7D54-4089-BF6B-656645BB44A6}" srcOrd="7" destOrd="0" parTransId="{9423F2D5-D6AF-453A-A1DE-CE85D745B795}" sibTransId="{ECF41F56-A71A-46B0-A92C-C5D8300E4AE4}"/>
    <dgm:cxn modelId="{B6A79209-26E2-4816-AB9D-8AE3B2EB90C3}" srcId="{85AC4DE5-8829-4557-90DF-93631F40E3AB}" destId="{16B7A3D1-43C9-4E2A-B589-7E6764919080}" srcOrd="4" destOrd="0" parTransId="{41803243-2D4B-4EC9-AE65-90F1182E1FF7}" sibTransId="{85867E6D-B79E-4996-BBD3-D9C48F9CE0EC}"/>
    <dgm:cxn modelId="{A52BA61A-AAB8-46EA-BA14-8FE97EED4375}" srcId="{85AC4DE5-8829-4557-90DF-93631F40E3AB}" destId="{C69F9ABF-669D-4BD0-B26D-B6DA26FC19DE}" srcOrd="2" destOrd="0" parTransId="{7225CA79-20A7-4664-B477-D3C0B5CAF837}" sibTransId="{1E631594-DDAA-4FB5-9120-F2FD12F04037}"/>
    <dgm:cxn modelId="{1E257A25-3B68-40DE-8A0E-4E233780AAE2}" type="presOf" srcId="{16B7A3D1-43C9-4E2A-B589-7E6764919080}" destId="{0FAE9B4D-9A4B-4B4B-B60B-5D7E14E58715}" srcOrd="0" destOrd="0" presId="urn:microsoft.com/office/officeart/2005/8/layout/vList2"/>
    <dgm:cxn modelId="{462A2C27-B258-488B-A1A1-657C5E075153}" type="presOf" srcId="{C98AF6FF-EECE-4B1D-9D5A-24E9334F1CCC}" destId="{BD9C60D1-2305-4AC6-B88D-BA140B6A17B2}" srcOrd="0" destOrd="0" presId="urn:microsoft.com/office/officeart/2005/8/layout/vList2"/>
    <dgm:cxn modelId="{482BE82B-1419-4D3D-9BC9-50468EEF6936}" type="presOf" srcId="{480F1666-72F7-48F5-B2C5-454D52817A1B}" destId="{6C74B512-9602-41C0-9BEE-F3B223199F2E}" srcOrd="0" destOrd="0" presId="urn:microsoft.com/office/officeart/2005/8/layout/vList2"/>
    <dgm:cxn modelId="{D1CC803C-91B4-48B3-A94D-CAB490BD15FD}" srcId="{85AC4DE5-8829-4557-90DF-93631F40E3AB}" destId="{7EB71BF5-FBCF-4CA6-ADDE-15F721FD557A}" srcOrd="8" destOrd="0" parTransId="{F985DF2A-45AB-4929-B28F-B16A7F197E2E}" sibTransId="{3DA0414F-9CEC-43D7-940D-76B3E7E54B52}"/>
    <dgm:cxn modelId="{F89BFC60-C6CB-49DC-9C80-663CA28FD958}" type="presOf" srcId="{85AC4DE5-8829-4557-90DF-93631F40E3AB}" destId="{B71E0FAB-BBC3-4D3E-A321-A367D2A6D551}" srcOrd="0" destOrd="0" presId="urn:microsoft.com/office/officeart/2005/8/layout/vList2"/>
    <dgm:cxn modelId="{16E8BC42-191F-488E-9491-A2C5799D575D}" srcId="{85AC4DE5-8829-4557-90DF-93631F40E3AB}" destId="{476C689A-9355-468B-92C8-CEE6B78BBAB1}" srcOrd="6" destOrd="0" parTransId="{18B062F0-AFDE-434F-8170-7EABEDF056E4}" sibTransId="{4B0A0BED-0708-441B-913C-8818552BD4BE}"/>
    <dgm:cxn modelId="{F639D24B-FCDB-4A57-A002-713C465271C8}" type="presOf" srcId="{C69F9ABF-669D-4BD0-B26D-B6DA26FC19DE}" destId="{2FC2369F-384E-40B5-8016-4AD4EA9026A6}" srcOrd="0" destOrd="0" presId="urn:microsoft.com/office/officeart/2005/8/layout/vList2"/>
    <dgm:cxn modelId="{C7A7C575-2D7B-4D5F-9B47-DD44479F0F5A}" srcId="{85AC4DE5-8829-4557-90DF-93631F40E3AB}" destId="{480F1666-72F7-48F5-B2C5-454D52817A1B}" srcOrd="1" destOrd="0" parTransId="{5C20B1CA-2D30-447C-8DA7-31BFB9C087F1}" sibTransId="{D175EE83-F1C4-4121-8294-B7EA696B0AF5}"/>
    <dgm:cxn modelId="{EA1EC078-09BD-4165-A9D7-DC8D2C8BADEF}" type="presOf" srcId="{476C689A-9355-468B-92C8-CEE6B78BBAB1}" destId="{D72F5BE6-6D0D-4492-B7B0-5BFBAF49986F}" srcOrd="0" destOrd="0" presId="urn:microsoft.com/office/officeart/2005/8/layout/vList2"/>
    <dgm:cxn modelId="{B3611FAA-74D9-44E8-B042-C0E5E41DECD2}" type="presOf" srcId="{B620B1ED-B1F2-4C18-AE99-92226B3A7CE5}" destId="{643BD317-907B-4667-BB80-29CBA5E4F754}" srcOrd="0" destOrd="0" presId="urn:microsoft.com/office/officeart/2005/8/layout/vList2"/>
    <dgm:cxn modelId="{E7682CB1-B69F-43D7-B9D3-6E36112BCFE6}" type="presOf" srcId="{DA989B60-7D54-4089-BF6B-656645BB44A6}" destId="{C6B9AD8E-D522-477D-B541-7B2359A4565D}" srcOrd="0" destOrd="0" presId="urn:microsoft.com/office/officeart/2005/8/layout/vList2"/>
    <dgm:cxn modelId="{5A1E87E5-93CD-4D2C-A314-AB3B901B1086}" srcId="{85AC4DE5-8829-4557-90DF-93631F40E3AB}" destId="{ECB682D5-51FF-4DEE-8B8A-7619339C3B2C}" srcOrd="5" destOrd="0" parTransId="{F373E909-4B8D-4CDC-8582-212658AC8433}" sibTransId="{6EF5EC17-F0A6-4256-AE88-C04C12E57978}"/>
    <dgm:cxn modelId="{97F5A4EA-D3AB-41DC-9C28-D614D8DA408E}" srcId="{85AC4DE5-8829-4557-90DF-93631F40E3AB}" destId="{C98AF6FF-EECE-4B1D-9D5A-24E9334F1CCC}" srcOrd="3" destOrd="0" parTransId="{79A16259-3664-4031-AD6F-199103BCA944}" sibTransId="{73EE000C-650A-4295-AE51-F3D5694A06B1}"/>
    <dgm:cxn modelId="{CD3FE4F0-5872-43E8-8CC9-40E684A82E5B}" type="presOf" srcId="{7EB71BF5-FBCF-4CA6-ADDE-15F721FD557A}" destId="{8085C8D7-FE5A-4E19-B1DC-9ED1C5AA0A30}" srcOrd="0" destOrd="0" presId="urn:microsoft.com/office/officeart/2005/8/layout/vList2"/>
    <dgm:cxn modelId="{359CC4F5-DA3F-495A-BA69-BBAF997B89B6}" type="presOf" srcId="{ECB682D5-51FF-4DEE-8B8A-7619339C3B2C}" destId="{953E3DC2-DFC1-4156-A702-39DA70165628}" srcOrd="0" destOrd="0" presId="urn:microsoft.com/office/officeart/2005/8/layout/vList2"/>
    <dgm:cxn modelId="{415F5FF8-C630-4271-84CF-A9DA2606799B}" srcId="{85AC4DE5-8829-4557-90DF-93631F40E3AB}" destId="{B620B1ED-B1F2-4C18-AE99-92226B3A7CE5}" srcOrd="0" destOrd="0" parTransId="{F18E79C0-7A52-4CAF-9CA9-77ACCFA83C7F}" sibTransId="{72EC84C0-3000-4C27-9D7A-A5EECA878BAF}"/>
    <dgm:cxn modelId="{0EE0F99E-1D7C-4C63-ADF9-3637BD5DA318}" type="presParOf" srcId="{B71E0FAB-BBC3-4D3E-A321-A367D2A6D551}" destId="{643BD317-907B-4667-BB80-29CBA5E4F754}" srcOrd="0" destOrd="0" presId="urn:microsoft.com/office/officeart/2005/8/layout/vList2"/>
    <dgm:cxn modelId="{F260F3AB-9613-4404-8C2A-7C75A97F709E}" type="presParOf" srcId="{B71E0FAB-BBC3-4D3E-A321-A367D2A6D551}" destId="{6C6E03EB-1E4A-47D8-871A-795508621527}" srcOrd="1" destOrd="0" presId="urn:microsoft.com/office/officeart/2005/8/layout/vList2"/>
    <dgm:cxn modelId="{3D26DF48-59CB-45D4-A2FE-B3BCA653A9C8}" type="presParOf" srcId="{B71E0FAB-BBC3-4D3E-A321-A367D2A6D551}" destId="{6C74B512-9602-41C0-9BEE-F3B223199F2E}" srcOrd="2" destOrd="0" presId="urn:microsoft.com/office/officeart/2005/8/layout/vList2"/>
    <dgm:cxn modelId="{F55C7591-6932-4F78-83B1-0280102C8B2A}" type="presParOf" srcId="{B71E0FAB-BBC3-4D3E-A321-A367D2A6D551}" destId="{5F4AC84B-FBB3-4FE3-A910-3376558D7164}" srcOrd="3" destOrd="0" presId="urn:microsoft.com/office/officeart/2005/8/layout/vList2"/>
    <dgm:cxn modelId="{6A63F454-A455-4207-BF46-BECC815484A1}" type="presParOf" srcId="{B71E0FAB-BBC3-4D3E-A321-A367D2A6D551}" destId="{2FC2369F-384E-40B5-8016-4AD4EA9026A6}" srcOrd="4" destOrd="0" presId="urn:microsoft.com/office/officeart/2005/8/layout/vList2"/>
    <dgm:cxn modelId="{56DE9ADC-E48C-4039-8FFA-A57EC718FE33}" type="presParOf" srcId="{B71E0FAB-BBC3-4D3E-A321-A367D2A6D551}" destId="{769F5607-D8F6-4815-8263-17B37D86F714}" srcOrd="5" destOrd="0" presId="urn:microsoft.com/office/officeart/2005/8/layout/vList2"/>
    <dgm:cxn modelId="{C5B27D24-788E-4AD6-892A-7FCD8BF62211}" type="presParOf" srcId="{B71E0FAB-BBC3-4D3E-A321-A367D2A6D551}" destId="{BD9C60D1-2305-4AC6-B88D-BA140B6A17B2}" srcOrd="6" destOrd="0" presId="urn:microsoft.com/office/officeart/2005/8/layout/vList2"/>
    <dgm:cxn modelId="{AB835CB3-BA30-40A5-8490-A29F365CD2A7}" type="presParOf" srcId="{B71E0FAB-BBC3-4D3E-A321-A367D2A6D551}" destId="{B6969DAC-5464-4D34-AD93-50A845567B5D}" srcOrd="7" destOrd="0" presId="urn:microsoft.com/office/officeart/2005/8/layout/vList2"/>
    <dgm:cxn modelId="{BBA89E57-BD35-45DF-9C54-137FF9508B98}" type="presParOf" srcId="{B71E0FAB-BBC3-4D3E-A321-A367D2A6D551}" destId="{0FAE9B4D-9A4B-4B4B-B60B-5D7E14E58715}" srcOrd="8" destOrd="0" presId="urn:microsoft.com/office/officeart/2005/8/layout/vList2"/>
    <dgm:cxn modelId="{AD0C1553-1631-4A3E-9EE1-A31512056FD0}" type="presParOf" srcId="{B71E0FAB-BBC3-4D3E-A321-A367D2A6D551}" destId="{AE4D6960-C8BA-405B-872F-9052A75F1051}" srcOrd="9" destOrd="0" presId="urn:microsoft.com/office/officeart/2005/8/layout/vList2"/>
    <dgm:cxn modelId="{FF4A3DCB-D18E-4101-98FD-9BCEAA8F04F8}" type="presParOf" srcId="{B71E0FAB-BBC3-4D3E-A321-A367D2A6D551}" destId="{953E3DC2-DFC1-4156-A702-39DA70165628}" srcOrd="10" destOrd="0" presId="urn:microsoft.com/office/officeart/2005/8/layout/vList2"/>
    <dgm:cxn modelId="{D0C9084C-A472-44ED-A474-ADAEEF96E710}" type="presParOf" srcId="{B71E0FAB-BBC3-4D3E-A321-A367D2A6D551}" destId="{9652359D-0A1F-470B-AA13-D76FA3B92096}" srcOrd="11" destOrd="0" presId="urn:microsoft.com/office/officeart/2005/8/layout/vList2"/>
    <dgm:cxn modelId="{372A29B2-FE80-4ED2-9B6E-6705211FC583}" type="presParOf" srcId="{B71E0FAB-BBC3-4D3E-A321-A367D2A6D551}" destId="{D72F5BE6-6D0D-4492-B7B0-5BFBAF49986F}" srcOrd="12" destOrd="0" presId="urn:microsoft.com/office/officeart/2005/8/layout/vList2"/>
    <dgm:cxn modelId="{1A8C45A1-B42C-4A5E-97A1-8A7D2F17E7D6}" type="presParOf" srcId="{B71E0FAB-BBC3-4D3E-A321-A367D2A6D551}" destId="{3A884221-BA61-45AC-A43D-2F3E63B194C3}" srcOrd="13" destOrd="0" presId="urn:microsoft.com/office/officeart/2005/8/layout/vList2"/>
    <dgm:cxn modelId="{815F30ED-7520-42B8-8FB6-FE1FA96A4A08}" type="presParOf" srcId="{B71E0FAB-BBC3-4D3E-A321-A367D2A6D551}" destId="{C6B9AD8E-D522-477D-B541-7B2359A4565D}" srcOrd="14" destOrd="0" presId="urn:microsoft.com/office/officeart/2005/8/layout/vList2"/>
    <dgm:cxn modelId="{5ECFEA25-A51B-46AF-BC90-AD5B4C83B46A}" type="presParOf" srcId="{B71E0FAB-BBC3-4D3E-A321-A367D2A6D551}" destId="{42E62B42-AD91-44C6-AAC7-C497C760BB44}" srcOrd="15" destOrd="0" presId="urn:microsoft.com/office/officeart/2005/8/layout/vList2"/>
    <dgm:cxn modelId="{B6280BD5-0CB2-4DB2-9AE9-6AA940CFDF6A}" type="presParOf" srcId="{B71E0FAB-BBC3-4D3E-A321-A367D2A6D551}" destId="{8085C8D7-FE5A-4E19-B1DC-9ED1C5AA0A30}"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3BD317-907B-4667-BB80-29CBA5E4F754}">
      <dsp:nvSpPr>
        <dsp:cNvPr id="0" name=""/>
        <dsp:cNvSpPr/>
      </dsp:nvSpPr>
      <dsp:spPr>
        <a:xfrm>
          <a:off x="0" y="2816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1" kern="1200"/>
            <a:t>PostgreSQL</a:t>
          </a:r>
          <a:r>
            <a:rPr lang="en-US" sz="800" kern="1200"/>
            <a:t> is an enterprise-class open source database management system. It supports both SQL and JSON for relational and non-relational queries for extensibility and SQL compliance. PostgreSQL supports advanced data types and performance optimization features, which are only available in expensive commercial databases, like Oracle and SQL Server. It is also known as Postgres.</a:t>
          </a:r>
        </a:p>
      </dsp:txBody>
      <dsp:txXfrm>
        <a:off x="19647" y="47812"/>
        <a:ext cx="7707960" cy="363186"/>
      </dsp:txXfrm>
    </dsp:sp>
    <dsp:sp modelId="{6C74B512-9602-41C0-9BEE-F3B223199F2E}">
      <dsp:nvSpPr>
        <dsp:cNvPr id="0" name=""/>
        <dsp:cNvSpPr/>
      </dsp:nvSpPr>
      <dsp:spPr>
        <a:xfrm>
          <a:off x="0" y="45368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PostgreSQL can run dynamic websites and web apps as a LAMP stack option.</a:t>
          </a:r>
        </a:p>
      </dsp:txBody>
      <dsp:txXfrm>
        <a:off x="19647" y="473332"/>
        <a:ext cx="7707960" cy="363186"/>
      </dsp:txXfrm>
    </dsp:sp>
    <dsp:sp modelId="{2FC2369F-384E-40B5-8016-4AD4EA9026A6}">
      <dsp:nvSpPr>
        <dsp:cNvPr id="0" name=""/>
        <dsp:cNvSpPr/>
      </dsp:nvSpPr>
      <dsp:spPr>
        <a:xfrm>
          <a:off x="0" y="87920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PostgreSQL’s write-ahead logging makes it a highly fault-tolerant database.</a:t>
          </a:r>
        </a:p>
      </dsp:txBody>
      <dsp:txXfrm>
        <a:off x="19647" y="898852"/>
        <a:ext cx="7707960" cy="363186"/>
      </dsp:txXfrm>
    </dsp:sp>
    <dsp:sp modelId="{BD9C60D1-2305-4AC6-B88D-BA140B6A17B2}">
      <dsp:nvSpPr>
        <dsp:cNvPr id="0" name=""/>
        <dsp:cNvSpPr/>
      </dsp:nvSpPr>
      <dsp:spPr>
        <a:xfrm>
          <a:off x="0" y="130472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PostgreSQL source code is freely available under an open source license. This allows </a:t>
          </a:r>
        </a:p>
      </dsp:txBody>
      <dsp:txXfrm>
        <a:off x="19647" y="1324372"/>
        <a:ext cx="7707960" cy="363186"/>
      </dsp:txXfrm>
    </dsp:sp>
    <dsp:sp modelId="{0FAE9B4D-9A4B-4B4B-B60B-5D7E14E58715}">
      <dsp:nvSpPr>
        <dsp:cNvPr id="0" name=""/>
        <dsp:cNvSpPr/>
      </dsp:nvSpPr>
      <dsp:spPr>
        <a:xfrm>
          <a:off x="0" y="173024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you the freedom to use, modify, and implement it as per your business needs.</a:t>
          </a:r>
        </a:p>
      </dsp:txBody>
      <dsp:txXfrm>
        <a:off x="19647" y="1749892"/>
        <a:ext cx="7707960" cy="363186"/>
      </dsp:txXfrm>
    </dsp:sp>
    <dsp:sp modelId="{953E3DC2-DFC1-4156-A702-39DA70165628}">
      <dsp:nvSpPr>
        <dsp:cNvPr id="0" name=""/>
        <dsp:cNvSpPr/>
      </dsp:nvSpPr>
      <dsp:spPr>
        <a:xfrm>
          <a:off x="0" y="215576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PostgreSQL supports geographic objects so you can use it for location-based services and geographic information systems.</a:t>
          </a:r>
        </a:p>
      </dsp:txBody>
      <dsp:txXfrm>
        <a:off x="19647" y="2175412"/>
        <a:ext cx="7707960" cy="363186"/>
      </dsp:txXfrm>
    </dsp:sp>
    <dsp:sp modelId="{D72F5BE6-6D0D-4492-B7B0-5BFBAF49986F}">
      <dsp:nvSpPr>
        <dsp:cNvPr id="0" name=""/>
        <dsp:cNvSpPr/>
      </dsp:nvSpPr>
      <dsp:spPr>
        <a:xfrm>
          <a:off x="0" y="258128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PostgreSQL supports geographic objects so it can be used as a geospatial data store for location-based services and geographic information systems.</a:t>
          </a:r>
        </a:p>
      </dsp:txBody>
      <dsp:txXfrm>
        <a:off x="19647" y="2600932"/>
        <a:ext cx="7707960" cy="363186"/>
      </dsp:txXfrm>
    </dsp:sp>
    <dsp:sp modelId="{C6B9AD8E-D522-477D-B541-7B2359A4565D}">
      <dsp:nvSpPr>
        <dsp:cNvPr id="0" name=""/>
        <dsp:cNvSpPr/>
      </dsp:nvSpPr>
      <dsp:spPr>
        <a:xfrm>
          <a:off x="0" y="300680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To learn Postgres, you don’t need much training as its easy to use.</a:t>
          </a:r>
        </a:p>
      </dsp:txBody>
      <dsp:txXfrm>
        <a:off x="19647" y="3026452"/>
        <a:ext cx="7707960" cy="363186"/>
      </dsp:txXfrm>
    </dsp:sp>
    <dsp:sp modelId="{8085C8D7-FE5A-4E19-B1DC-9ED1C5AA0A30}">
      <dsp:nvSpPr>
        <dsp:cNvPr id="0" name=""/>
        <dsp:cNvSpPr/>
      </dsp:nvSpPr>
      <dsp:spPr>
        <a:xfrm>
          <a:off x="0" y="3432325"/>
          <a:ext cx="7747254" cy="402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a:t>Low maintenance and administration for both embedded and enterprise use of PostgreSQL.</a:t>
          </a:r>
        </a:p>
      </dsp:txBody>
      <dsp:txXfrm>
        <a:off x="19647" y="3451972"/>
        <a:ext cx="7707960" cy="3631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de-DE"/>
              <a:t>Mastertitelformat bearbeiten</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lvl1pPr algn="l">
              <a:defRPr/>
            </a:lvl1pPr>
          </a:lstStyle>
          <a:p>
            <a:fld id="{4DC6253E-C0E0-49ED-9F06-75A9FE9CD711}" type="datetimeFigureOut">
              <a:rPr lang="fr-FR" smtClean="0"/>
              <a:t>08/06/2022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293854-D59D-4509-B127-D6CD3636598A}" type="slidenum">
              <a:rPr lang="fr-FR" smtClean="0"/>
              <a:t>‹Nr.›</a:t>
            </a:fld>
            <a:endParaRPr lang="fr-FR"/>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3640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DC6253E-C0E0-49ED-9F06-75A9FE9CD711}" type="datetimeFigureOut">
              <a:rPr lang="fr-FR" smtClean="0"/>
              <a:t>08/06/2022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492191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de-DE"/>
              <a:t>Mastertitelformat bearbeiten</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4DC6253E-C0E0-49ED-9F06-75A9FE9CD711}" type="datetimeFigureOut">
              <a:rPr lang="fr-FR" smtClean="0"/>
              <a:t>08/06/2022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293854-D59D-4509-B127-D6CD3636598A}" type="slidenum">
              <a:rPr lang="fr-FR" smtClean="0"/>
              <a:t>‹Nr.›</a:t>
            </a:fld>
            <a:endParaRPr lang="fr-FR"/>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927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de-DE"/>
              <a:t>Mastertitelformat bearbeiten</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4DC6253E-C0E0-49ED-9F06-75A9FE9CD711}" type="datetimeFigureOut">
              <a:rPr lang="fr-FR" smtClean="0"/>
              <a:t>08/06/2022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1204548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de-DE"/>
              <a:t>Mastertitelformat bearbeiten</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768096" y="2967788"/>
            <a:ext cx="3566160" cy="334157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de-DE"/>
              <a:t>Mastertextformat bearbeiten</a:t>
            </a:r>
          </a:p>
        </p:txBody>
      </p:sp>
      <p:sp>
        <p:nvSpPr>
          <p:cNvPr id="6" name="Content Placeholder 5"/>
          <p:cNvSpPr>
            <a:spLocks noGrp="1"/>
          </p:cNvSpPr>
          <p:nvPr>
            <p:ph sz="quarter" idx="4"/>
          </p:nvPr>
        </p:nvSpPr>
        <p:spPr>
          <a:xfrm>
            <a:off x="4491990" y="2967788"/>
            <a:ext cx="3566160" cy="334157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4DC6253E-C0E0-49ED-9F06-75A9FE9CD711}" type="datetimeFigureOut">
              <a:rPr lang="fr-FR" smtClean="0"/>
              <a:t>08/06/2022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845812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4DC6253E-C0E0-49ED-9F06-75A9FE9CD711}" type="datetimeFigureOut">
              <a:rPr lang="fr-FR" smtClean="0"/>
              <a:t>08/06/2022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2925181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C6253E-C0E0-49ED-9F06-75A9FE9CD711}" type="datetimeFigureOut">
              <a:rPr lang="fr-FR" smtClean="0"/>
              <a:t>08/06/2022</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3372294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de-DE"/>
              <a:t>Mastertitelformat bearbeiten</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4DC6253E-C0E0-49ED-9F06-75A9FE9CD711}" type="datetimeFigureOut">
              <a:rPr lang="fr-FR" smtClean="0"/>
              <a:t>08/06/2022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4047218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de-DE"/>
              <a:t>Mastertitelformat bearbeiten</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4DC6253E-C0E0-49ED-9F06-75A9FE9CD711}" type="datetimeFigureOut">
              <a:rPr lang="fr-FR" smtClean="0"/>
              <a:t>08/06/2022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293854-D59D-4509-B127-D6CD3636598A}" type="slidenum">
              <a:rPr lang="fr-FR" smtClean="0"/>
              <a:t>‹Nr.›</a:t>
            </a:fld>
            <a:endParaRPr lang="fr-FR"/>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724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DC6253E-C0E0-49ED-9F06-75A9FE9CD711}" type="datetimeFigureOut">
              <a:rPr lang="fr-FR" smtClean="0"/>
              <a:t>08/06/2022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293854-D59D-4509-B127-D6CD3636598A}" type="slidenum">
              <a:rPr lang="fr-FR" smtClean="0"/>
              <a:t>‹Nr.›</a:t>
            </a:fld>
            <a:endParaRPr lang="fr-FR"/>
          </a:p>
        </p:txBody>
      </p:sp>
    </p:spTree>
    <p:extLst>
      <p:ext uri="{BB962C8B-B14F-4D97-AF65-F5344CB8AC3E}">
        <p14:creationId xmlns:p14="http://schemas.microsoft.com/office/powerpoint/2010/main" val="105832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de-DE"/>
              <a:t>Mastertitelformat bearbeiten</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DC6253E-C0E0-49ED-9F06-75A9FE9CD711}" type="datetimeFigureOut">
              <a:rPr lang="fr-FR" smtClean="0"/>
              <a:t>08/06/2022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293854-D59D-4509-B127-D6CD3636598A}" type="slidenum">
              <a:rPr lang="fr-FR" smtClean="0"/>
              <a:t>‹Nr.›</a:t>
            </a:fld>
            <a:endParaRPr lang="fr-FR"/>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03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DC6253E-C0E0-49ED-9F06-75A9FE9CD711}" type="datetimeFigureOut">
              <a:rPr lang="fr-FR" smtClean="0"/>
              <a:t>08/06/2022</a:t>
            </a:fld>
            <a:endParaRPr lang="fr-FR"/>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fr-FR"/>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D293854-D59D-4509-B127-D6CD3636598A}" type="slidenum">
              <a:rPr lang="fr-FR" smtClean="0"/>
              <a:t>‹Nr.›</a:t>
            </a:fld>
            <a:endParaRPr lang="fr-FR"/>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15503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1544"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8505" y="1814574"/>
            <a:ext cx="5570417" cy="3228207"/>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1444" y="620720"/>
            <a:ext cx="5492423"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3534918" y="1105351"/>
            <a:ext cx="4765475" cy="3023981"/>
          </a:xfrm>
        </p:spPr>
        <p:txBody>
          <a:bodyPr anchor="b">
            <a:normAutofit/>
          </a:bodyPr>
          <a:lstStyle/>
          <a:p>
            <a:pPr algn="l"/>
            <a:r>
              <a:rPr lang="fr-FR" sz="4200">
                <a:solidFill>
                  <a:srgbClr val="FFFFFF"/>
                </a:solidFill>
                <a:latin typeface="Arial Rounded MT Bold" pitchFamily="34" charset="0"/>
              </a:rPr>
              <a:t>Relational RDBMS</a:t>
            </a:r>
          </a:p>
        </p:txBody>
      </p:sp>
      <p:sp>
        <p:nvSpPr>
          <p:cNvPr id="3" name="Sous-titre 2"/>
          <p:cNvSpPr>
            <a:spLocks noGrp="1"/>
          </p:cNvSpPr>
          <p:nvPr>
            <p:ph type="subTitle" idx="1"/>
          </p:nvPr>
        </p:nvSpPr>
        <p:spPr>
          <a:xfrm>
            <a:off x="3534918" y="4297556"/>
            <a:ext cx="4765476" cy="1433391"/>
          </a:xfrm>
        </p:spPr>
        <p:txBody>
          <a:bodyPr anchor="t">
            <a:normAutofit/>
          </a:bodyPr>
          <a:lstStyle/>
          <a:p>
            <a:pPr marL="514350" indent="-514350">
              <a:buFont typeface="+mj-lt"/>
              <a:buAutoNum type="arabicPeriod"/>
            </a:pPr>
            <a:r>
              <a:rPr lang="fr-FR">
                <a:solidFill>
                  <a:srgbClr val="FFFFFF"/>
                </a:solidFill>
              </a:rPr>
              <a:t>MySQL</a:t>
            </a:r>
          </a:p>
          <a:p>
            <a:pPr marL="514350" indent="-514350">
              <a:buFont typeface="+mj-lt"/>
              <a:buAutoNum type="arabicPeriod"/>
            </a:pPr>
            <a:r>
              <a:rPr lang="fr-FR">
                <a:solidFill>
                  <a:srgbClr val="FFFFFF"/>
                </a:solidFill>
              </a:rPr>
              <a:t>PostgreSQL</a:t>
            </a:r>
          </a:p>
          <a:p>
            <a:pPr marL="514350" indent="-514350">
              <a:buFont typeface="+mj-lt"/>
              <a:buAutoNum type="arabicPeriod"/>
            </a:pPr>
            <a:r>
              <a:rPr lang="fr-FR">
                <a:solidFill>
                  <a:srgbClr val="FFFFFF"/>
                </a:solidFill>
              </a:rPr>
              <a:t>SQL SERVER</a:t>
            </a: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32199" y="4214336"/>
            <a:ext cx="38404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000" y="-2"/>
            <a:ext cx="123444"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110767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07CF805-C4DF-4548-AA08-7997CD552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C82E0D7-37D0-4C31-B2DA-233C8F10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6823143" cy="6148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768096" y="585216"/>
            <a:ext cx="6051821" cy="1499616"/>
          </a:xfrm>
        </p:spPr>
        <p:txBody>
          <a:bodyPr>
            <a:normAutofit/>
          </a:bodyPr>
          <a:lstStyle/>
          <a:p>
            <a:r>
              <a:rPr lang="fr-FR">
                <a:solidFill>
                  <a:srgbClr val="FFFFFF"/>
                </a:solidFill>
              </a:rPr>
              <a:t>What is MySQL and what are its functionalities?</a:t>
            </a:r>
          </a:p>
        </p:txBody>
      </p:sp>
      <p:cxnSp>
        <p:nvCxnSpPr>
          <p:cNvPr id="21" name="Straight Connector 20">
            <a:extLst>
              <a:ext uri="{FF2B5EF4-FFF2-40B4-BE49-F238E27FC236}">
                <a16:creationId xmlns:a16="http://schemas.microsoft.com/office/drawing/2014/main" id="{1AD3A364-FD48-4C42-B623-DAD0C3ED6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768096" y="2286000"/>
            <a:ext cx="6055614" cy="3862971"/>
          </a:xfrm>
        </p:spPr>
        <p:txBody>
          <a:bodyPr>
            <a:normAutofit/>
          </a:bodyPr>
          <a:lstStyle/>
          <a:p>
            <a:r>
              <a:rPr lang="en-US" sz="1700">
                <a:solidFill>
                  <a:srgbClr val="FFFFFF"/>
                </a:solidFill>
              </a:rPr>
              <a:t>MySQL is a relational database management system that helps to manipulate database stored in different tables in the computer.</a:t>
            </a:r>
            <a:endParaRPr lang="fr-FR" sz="1700">
              <a:solidFill>
                <a:srgbClr val="FFFFFF"/>
              </a:solidFill>
            </a:endParaRPr>
          </a:p>
          <a:p>
            <a:r>
              <a:rPr lang="fr-FR" sz="1700">
                <a:solidFill>
                  <a:srgbClr val="FFFFFF"/>
                </a:solidFill>
              </a:rPr>
              <a:t> It is one of the most popular database management systems.</a:t>
            </a:r>
          </a:p>
          <a:p>
            <a:r>
              <a:rPr lang="en-US" sz="1700">
                <a:solidFill>
                  <a:srgbClr val="FFFFFF"/>
                </a:solidFill>
              </a:rPr>
              <a:t>MySQL store Data in Tables. Tables further stores Data in Rows and Columns.</a:t>
            </a:r>
          </a:p>
          <a:p>
            <a:r>
              <a:rPr lang="en-US" sz="1700">
                <a:solidFill>
                  <a:srgbClr val="FFFFFF"/>
                </a:solidFill>
              </a:rPr>
              <a:t>High performance – It provides you fast loading utilities with different memory cache.</a:t>
            </a:r>
          </a:p>
          <a:p>
            <a:r>
              <a:rPr lang="en-US" sz="1700">
                <a:solidFill>
                  <a:srgbClr val="FFFFFF"/>
                </a:solidFill>
              </a:rPr>
              <a:t>Performance – MySQL gives you high-performance results without losing essential functionality.</a:t>
            </a:r>
          </a:p>
          <a:p>
            <a:r>
              <a:rPr lang="en-US" sz="1700">
                <a:solidFill>
                  <a:srgbClr val="FFFFFF"/>
                </a:solidFill>
              </a:rPr>
              <a:t>Complete Data Security – Only the authorized users can access the database. Complete security for the data.</a:t>
            </a:r>
          </a:p>
          <a:p>
            <a:endParaRPr lang="en-US" sz="1700">
              <a:solidFill>
                <a:srgbClr val="FFFFFF"/>
              </a:solidFill>
            </a:endParaRPr>
          </a:p>
          <a:p>
            <a:endParaRPr lang="fr-FR" sz="1700">
              <a:solidFill>
                <a:srgbClr val="FFFFFF"/>
              </a:solidFill>
            </a:endParaRPr>
          </a:p>
        </p:txBody>
      </p:sp>
      <p:sp>
        <p:nvSpPr>
          <p:cNvPr id="23" name="Rectangle 22">
            <a:extLst>
              <a:ext uri="{FF2B5EF4-FFF2-40B4-BE49-F238E27FC236}">
                <a16:creationId xmlns:a16="http://schemas.microsoft.com/office/drawing/2014/main" id="{F9F40211-4307-4706-AE59-83AC153FB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6145103"/>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816271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7">
            <a:extLst>
              <a:ext uri="{FF2B5EF4-FFF2-40B4-BE49-F238E27FC236}">
                <a16:creationId xmlns:a16="http://schemas.microsoft.com/office/drawing/2014/main" id="{70D4A79B-06B2-4FE7-9CF6-54D940A8F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9">
            <a:extLst>
              <a:ext uri="{FF2B5EF4-FFF2-40B4-BE49-F238E27FC236}">
                <a16:creationId xmlns:a16="http://schemas.microsoft.com/office/drawing/2014/main" id="{4BBFA14D-8E4F-42D4-B5A0-9588A6A45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8" y="321731"/>
            <a:ext cx="8663391" cy="62145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768096" y="585216"/>
            <a:ext cx="7747254" cy="1499616"/>
          </a:xfrm>
        </p:spPr>
        <p:txBody>
          <a:bodyPr>
            <a:normAutofit/>
          </a:bodyPr>
          <a:lstStyle/>
          <a:p>
            <a:r>
              <a:rPr lang="fr-FR">
                <a:solidFill>
                  <a:srgbClr val="FFFFFF"/>
                </a:solidFill>
              </a:rPr>
              <a:t>PostgreSQL and its functionalities:</a:t>
            </a:r>
          </a:p>
        </p:txBody>
      </p:sp>
      <p:cxnSp>
        <p:nvCxnSpPr>
          <p:cNvPr id="40" name="Straight Connector 11">
            <a:extLst>
              <a:ext uri="{FF2B5EF4-FFF2-40B4-BE49-F238E27FC236}">
                <a16:creationId xmlns:a16="http://schemas.microsoft.com/office/drawing/2014/main" id="{610B2B88-1A1B-486B-9366-918FE2E71D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1" name="Espace réservé du contenu 2">
            <a:extLst>
              <a:ext uri="{FF2B5EF4-FFF2-40B4-BE49-F238E27FC236}">
                <a16:creationId xmlns:a16="http://schemas.microsoft.com/office/drawing/2014/main" id="{4842A6E4-4D09-C1EE-C770-108FBAE82821}"/>
              </a:ext>
            </a:extLst>
          </p:cNvPr>
          <p:cNvGraphicFramePr>
            <a:graphicFrameLocks noGrp="1"/>
          </p:cNvGraphicFramePr>
          <p:nvPr>
            <p:ph idx="1"/>
          </p:nvPr>
        </p:nvGraphicFramePr>
        <p:xfrm>
          <a:off x="768096" y="2286000"/>
          <a:ext cx="7747254" cy="3862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532440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7A3056-9B88-444B-94DA-40B0F2C6E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rgbClr val="0083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768096" y="585215"/>
            <a:ext cx="2722626" cy="1677467"/>
          </a:xfrm>
        </p:spPr>
        <p:txBody>
          <a:bodyPr>
            <a:normAutofit/>
          </a:bodyPr>
          <a:lstStyle/>
          <a:p>
            <a:r>
              <a:rPr lang="fr-FR" sz="3800"/>
              <a:t>SQL SERVER </a:t>
            </a:r>
          </a:p>
        </p:txBody>
      </p:sp>
      <p:cxnSp>
        <p:nvCxnSpPr>
          <p:cNvPr id="10" name="Straight Connector 9">
            <a:extLst>
              <a:ext uri="{FF2B5EF4-FFF2-40B4-BE49-F238E27FC236}">
                <a16:creationId xmlns:a16="http://schemas.microsoft.com/office/drawing/2014/main" id="{6820BD55-A71A-48C6-B0F7-235147F39D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9347" y="2423548"/>
            <a:ext cx="267462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768096" y="2584415"/>
            <a:ext cx="2722626" cy="3724944"/>
          </a:xfrm>
        </p:spPr>
        <p:txBody>
          <a:bodyPr>
            <a:normAutofit/>
          </a:bodyPr>
          <a:lstStyle/>
          <a:p>
            <a:r>
              <a:rPr lang="fr-FR" sz="1600"/>
              <a:t>SQL stands for Structured Query Language. It is the standard language used to interact with the database.</a:t>
            </a:r>
          </a:p>
          <a:p>
            <a:r>
              <a:rPr lang="fr-FR" sz="1600"/>
              <a:t>SQL SERVER is </a:t>
            </a:r>
            <a:r>
              <a:rPr lang="en-US" sz="1600"/>
              <a:t>a relational database management system (RDBMS) developed and introduced by Microsoft.</a:t>
            </a:r>
          </a:p>
          <a:p>
            <a:r>
              <a:rPr lang="en-US" sz="1600"/>
              <a:t> SQL Server Database Engine is the core component of SQL Server responsible for controlling, processing, and securing the data storage.</a:t>
            </a:r>
          </a:p>
          <a:p>
            <a:pPr marL="0" indent="0">
              <a:buNone/>
            </a:pPr>
            <a:endParaRPr lang="en-US" sz="1600" b="1"/>
          </a:p>
          <a:p>
            <a:endParaRPr lang="fr-FR" sz="1600"/>
          </a:p>
        </p:txBody>
      </p:sp>
      <p:sp>
        <p:nvSpPr>
          <p:cNvPr id="12" name="Rectangle 11">
            <a:extLst>
              <a:ext uri="{FF2B5EF4-FFF2-40B4-BE49-F238E27FC236}">
                <a16:creationId xmlns:a16="http://schemas.microsoft.com/office/drawing/2014/main" id="{DA215CF0-5E5E-4D2E-B3AE-366652A368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047" y="0"/>
            <a:ext cx="5182493" cy="6858000"/>
          </a:xfrm>
          <a:prstGeom prst="rect">
            <a:avLst/>
          </a:prstGeom>
          <a:blipFill dpi="0" rotWithShape="1">
            <a:blip r:embed="rId2">
              <a:duotone>
                <a:schemeClr val="accent1">
                  <a:shade val="45000"/>
                  <a:satMod val="135000"/>
                </a:schemeClr>
                <a:prstClr val="white"/>
              </a:duotone>
            </a:blip>
            <a:srcRect/>
            <a:tile tx="6350" ty="-101600" sx="70000" sy="7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Tree>
    <p:extLst>
      <p:ext uri="{BB962C8B-B14F-4D97-AF65-F5344CB8AC3E}">
        <p14:creationId xmlns:p14="http://schemas.microsoft.com/office/powerpoint/2010/main" val="101597519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768096" y="585216"/>
            <a:ext cx="2350185" cy="1499616"/>
          </a:xfrm>
        </p:spPr>
        <p:txBody>
          <a:bodyPr>
            <a:normAutofit/>
          </a:bodyPr>
          <a:lstStyle/>
          <a:p>
            <a:r>
              <a:rPr lang="fr-FR" sz="2700"/>
              <a:t>The difference between SQL SERVER, MySQL and PostgreSQL:</a:t>
            </a:r>
          </a:p>
        </p:txBody>
      </p:sp>
      <p:sp>
        <p:nvSpPr>
          <p:cNvPr id="3" name="Espace réservé du contenu 2"/>
          <p:cNvSpPr>
            <a:spLocks noGrp="1"/>
          </p:cNvSpPr>
          <p:nvPr>
            <p:ph idx="1"/>
          </p:nvPr>
        </p:nvSpPr>
        <p:spPr>
          <a:xfrm>
            <a:off x="768096" y="2286000"/>
            <a:ext cx="2350185" cy="3931920"/>
          </a:xfrm>
        </p:spPr>
        <p:txBody>
          <a:bodyPr>
            <a:normAutofit/>
          </a:bodyPr>
          <a:lstStyle/>
          <a:p>
            <a:pPr marL="0" indent="0">
              <a:buNone/>
            </a:pPr>
            <a:r>
              <a:rPr lang="fr-FR" sz="1400"/>
              <a:t>  </a:t>
            </a:r>
          </a:p>
          <a:p>
            <a:pPr marL="0" indent="0">
              <a:buNone/>
            </a:pPr>
            <a:endParaRPr lang="fr-FR" sz="1400"/>
          </a:p>
        </p:txBody>
      </p:sp>
      <p:graphicFrame>
        <p:nvGraphicFramePr>
          <p:cNvPr id="4" name="Tabelle 4">
            <a:extLst>
              <a:ext uri="{FF2B5EF4-FFF2-40B4-BE49-F238E27FC236}">
                <a16:creationId xmlns:a16="http://schemas.microsoft.com/office/drawing/2014/main" id="{B0F9EA3B-4CC7-FD36-3F07-AA6CB0751919}"/>
              </a:ext>
            </a:extLst>
          </p:cNvPr>
          <p:cNvGraphicFramePr>
            <a:graphicFrameLocks noGrp="1"/>
          </p:cNvGraphicFramePr>
          <p:nvPr>
            <p:extLst>
              <p:ext uri="{D42A27DB-BD31-4B8C-83A1-F6EECF244321}">
                <p14:modId xmlns:p14="http://schemas.microsoft.com/office/powerpoint/2010/main" val="863617654"/>
              </p:ext>
            </p:extLst>
          </p:nvPr>
        </p:nvGraphicFramePr>
        <p:xfrm>
          <a:off x="3481756" y="2031557"/>
          <a:ext cx="5182184" cy="2794889"/>
        </p:xfrm>
        <a:graphic>
          <a:graphicData uri="http://schemas.openxmlformats.org/drawingml/2006/table">
            <a:tbl>
              <a:tblPr firstRow="1" bandRow="1">
                <a:tableStyleId>{8799B23B-EC83-4686-B30A-512413B5E67A}</a:tableStyleId>
              </a:tblPr>
              <a:tblGrid>
                <a:gridCol w="888641">
                  <a:extLst>
                    <a:ext uri="{9D8B030D-6E8A-4147-A177-3AD203B41FA5}">
                      <a16:colId xmlns:a16="http://schemas.microsoft.com/office/drawing/2014/main" val="181073340"/>
                    </a:ext>
                  </a:extLst>
                </a:gridCol>
                <a:gridCol w="1538037">
                  <a:extLst>
                    <a:ext uri="{9D8B030D-6E8A-4147-A177-3AD203B41FA5}">
                      <a16:colId xmlns:a16="http://schemas.microsoft.com/office/drawing/2014/main" val="844749418"/>
                    </a:ext>
                  </a:extLst>
                </a:gridCol>
                <a:gridCol w="1217469">
                  <a:extLst>
                    <a:ext uri="{9D8B030D-6E8A-4147-A177-3AD203B41FA5}">
                      <a16:colId xmlns:a16="http://schemas.microsoft.com/office/drawing/2014/main" val="3391101365"/>
                    </a:ext>
                  </a:extLst>
                </a:gridCol>
                <a:gridCol w="1538037">
                  <a:extLst>
                    <a:ext uri="{9D8B030D-6E8A-4147-A177-3AD203B41FA5}">
                      <a16:colId xmlns:a16="http://schemas.microsoft.com/office/drawing/2014/main" val="325517507"/>
                    </a:ext>
                  </a:extLst>
                </a:gridCol>
              </a:tblGrid>
              <a:tr h="254081">
                <a:tc>
                  <a:txBody>
                    <a:bodyPr/>
                    <a:lstStyle/>
                    <a:p>
                      <a:r>
                        <a:rPr lang="fr-FR" sz="1100"/>
                        <a:t>Name</a:t>
                      </a:r>
                      <a:endParaRPr lang="de-DE" sz="1100"/>
                    </a:p>
                  </a:txBody>
                  <a:tcPr marL="57746" marR="57746" marT="28873" marB="28873"/>
                </a:tc>
                <a:tc>
                  <a:txBody>
                    <a:bodyPr/>
                    <a:lstStyle/>
                    <a:p>
                      <a:r>
                        <a:rPr lang="fr-FR" sz="1100"/>
                        <a:t>SQL SERVER</a:t>
                      </a:r>
                      <a:endParaRPr lang="de-DE" sz="1100"/>
                    </a:p>
                  </a:txBody>
                  <a:tcPr marL="57746" marR="57746" marT="28873" marB="28873"/>
                </a:tc>
                <a:tc>
                  <a:txBody>
                    <a:bodyPr/>
                    <a:lstStyle/>
                    <a:p>
                      <a:r>
                        <a:rPr lang="fr-FR" sz="1100"/>
                        <a:t>MySQL</a:t>
                      </a:r>
                      <a:endParaRPr lang="de-DE" sz="1100"/>
                    </a:p>
                  </a:txBody>
                  <a:tcPr marL="57746" marR="57746" marT="28873" marB="28873"/>
                </a:tc>
                <a:tc>
                  <a:txBody>
                    <a:bodyPr/>
                    <a:lstStyle/>
                    <a:p>
                      <a:r>
                        <a:rPr lang="fr-FR" sz="1100"/>
                        <a:t>PostgreSQL</a:t>
                      </a:r>
                      <a:endParaRPr lang="de-DE" sz="1100"/>
                    </a:p>
                  </a:txBody>
                  <a:tcPr marL="57746" marR="57746" marT="28873" marB="28873"/>
                </a:tc>
                <a:extLst>
                  <a:ext uri="{0D108BD9-81ED-4DB2-BD59-A6C34878D82A}">
                    <a16:rowId xmlns:a16="http://schemas.microsoft.com/office/drawing/2014/main" val="3017121062"/>
                  </a:ext>
                </a:extLst>
              </a:tr>
              <a:tr h="254081">
                <a:tc>
                  <a:txBody>
                    <a:bodyPr/>
                    <a:lstStyle/>
                    <a:p>
                      <a:r>
                        <a:rPr lang="fr-FR" sz="1100"/>
                        <a:t>Licensing</a:t>
                      </a:r>
                      <a:endParaRPr lang="de-DE" sz="1100"/>
                    </a:p>
                  </a:txBody>
                  <a:tcPr marL="57746" marR="57746" marT="28873" marB="28873"/>
                </a:tc>
                <a:tc>
                  <a:txBody>
                    <a:bodyPr/>
                    <a:lstStyle/>
                    <a:p>
                      <a:r>
                        <a:rPr lang="fr-FR" sz="1100"/>
                        <a:t>commercial</a:t>
                      </a:r>
                      <a:endParaRPr lang="de-DE" sz="1100"/>
                    </a:p>
                  </a:txBody>
                  <a:tcPr marL="57746" marR="57746" marT="28873" marB="28873"/>
                </a:tc>
                <a:tc>
                  <a:txBody>
                    <a:bodyPr/>
                    <a:lstStyle/>
                    <a:p>
                      <a:r>
                        <a:rPr lang="fr-FR" sz="1100"/>
                        <a:t>Open-source</a:t>
                      </a:r>
                      <a:endParaRPr lang="de-DE" sz="1100"/>
                    </a:p>
                  </a:txBody>
                  <a:tcPr marL="57746" marR="57746" marT="28873" marB="28873"/>
                </a:tc>
                <a:tc>
                  <a:txBody>
                    <a:bodyPr/>
                    <a:lstStyle/>
                    <a:p>
                      <a:r>
                        <a:rPr lang="fr-FR" sz="1100"/>
                        <a:t>Open-source</a:t>
                      </a:r>
                      <a:endParaRPr lang="de-DE" sz="1100"/>
                    </a:p>
                  </a:txBody>
                  <a:tcPr marL="57746" marR="57746" marT="28873" marB="28873"/>
                </a:tc>
                <a:extLst>
                  <a:ext uri="{0D108BD9-81ED-4DB2-BD59-A6C34878D82A}">
                    <a16:rowId xmlns:a16="http://schemas.microsoft.com/office/drawing/2014/main" val="3118553131"/>
                  </a:ext>
                </a:extLst>
              </a:tr>
              <a:tr h="369572">
                <a:tc>
                  <a:txBody>
                    <a:bodyPr/>
                    <a:lstStyle/>
                    <a:p>
                      <a:r>
                        <a:rPr lang="en-US" sz="1100"/>
                        <a:t> Learning curve</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rgbClr val="FF0000"/>
                          </a:solidFill>
                        </a:rPr>
                        <a:t> Hard</a:t>
                      </a:r>
                      <a:endParaRPr lang="de-DE" sz="1100">
                        <a:solidFill>
                          <a:srgbClr val="FF0000"/>
                        </a:solidFill>
                      </a:endParaRPr>
                    </a:p>
                    <a:p>
                      <a:endParaRPr lang="en-US" sz="1100"/>
                    </a:p>
                  </a:txBody>
                  <a:tcPr marL="0" marR="0" marT="0" marB="0" anchor="ctr"/>
                </a:tc>
                <a:tc>
                  <a:txBody>
                    <a:bodyPr/>
                    <a:lstStyle/>
                    <a:p>
                      <a:r>
                        <a:rPr lang="fr-FR" sz="1100">
                          <a:solidFill>
                            <a:srgbClr val="00B050"/>
                          </a:solidFill>
                        </a:rPr>
                        <a:t>Mild</a:t>
                      </a:r>
                      <a:endParaRPr lang="de-DE" sz="1100">
                        <a:solidFill>
                          <a:srgbClr val="00B050"/>
                        </a:solidFill>
                      </a:endParaRPr>
                    </a:p>
                  </a:txBody>
                  <a:tcPr marL="57746" marR="57746" marT="28873" marB="28873"/>
                </a:tc>
                <a:tc>
                  <a:txBody>
                    <a:bodyPr/>
                    <a:lstStyle/>
                    <a:p>
                      <a:r>
                        <a:rPr lang="fr-FR" sz="1100">
                          <a:solidFill>
                            <a:srgbClr val="FF0000"/>
                          </a:solidFill>
                        </a:rPr>
                        <a:t>Hard</a:t>
                      </a:r>
                      <a:endParaRPr lang="de-DE" sz="1100">
                        <a:solidFill>
                          <a:srgbClr val="FF0000"/>
                        </a:solidFill>
                      </a:endParaRPr>
                    </a:p>
                  </a:txBody>
                  <a:tcPr marL="57746" marR="57746" marT="28873" marB="28873"/>
                </a:tc>
                <a:extLst>
                  <a:ext uri="{0D108BD9-81ED-4DB2-BD59-A6C34878D82A}">
                    <a16:rowId xmlns:a16="http://schemas.microsoft.com/office/drawing/2014/main" val="2378628620"/>
                  </a:ext>
                </a:extLst>
              </a:tr>
              <a:tr h="427318">
                <a:tc>
                  <a:txBody>
                    <a:bodyPr/>
                    <a:lstStyle/>
                    <a:p>
                      <a:r>
                        <a:rPr lang="fr-FR" sz="1100"/>
                        <a:t>Scalability</a:t>
                      </a:r>
                      <a:endParaRPr lang="de-DE" sz="1100"/>
                    </a:p>
                  </a:txBody>
                  <a:tcPr marL="57746" marR="57746" marT="28873" marB="28873"/>
                </a:tc>
                <a:tc>
                  <a:txBody>
                    <a:bodyPr/>
                    <a:lstStyle/>
                    <a:p>
                      <a:r>
                        <a:rPr lang="fr-FR" sz="1100"/>
                        <a:t>Vertical Complex.</a:t>
                      </a:r>
                      <a:endParaRPr lang="de-DE" sz="1100"/>
                    </a:p>
                  </a:txBody>
                  <a:tcPr marL="57746" marR="57746" marT="28873" marB="28873"/>
                </a:tc>
                <a:tc>
                  <a:txBody>
                    <a:bodyPr/>
                    <a:lstStyle/>
                    <a:p>
                      <a:r>
                        <a:rPr lang="fr-FR" sz="1100"/>
                        <a:t>Vertical Complex.</a:t>
                      </a:r>
                      <a:endParaRPr lang="de-DE" sz="1100"/>
                    </a:p>
                  </a:txBody>
                  <a:tcPr marL="57746" marR="57746" marT="28873" marB="28873"/>
                </a:tc>
                <a:tc>
                  <a:txBody>
                    <a:bodyPr/>
                    <a:lstStyle/>
                    <a:p>
                      <a:r>
                        <a:rPr lang="fr-FR" sz="1100"/>
                        <a:t>Vertical</a:t>
                      </a:r>
                      <a:endParaRPr lang="de-DE" sz="1100"/>
                    </a:p>
                  </a:txBody>
                  <a:tcPr marL="57746" marR="57746" marT="28873" marB="28873"/>
                </a:tc>
                <a:extLst>
                  <a:ext uri="{0D108BD9-81ED-4DB2-BD59-A6C34878D82A}">
                    <a16:rowId xmlns:a16="http://schemas.microsoft.com/office/drawing/2014/main" val="4234278065"/>
                  </a:ext>
                </a:extLst>
              </a:tr>
              <a:tr h="427318">
                <a:tc>
                  <a:txBody>
                    <a:bodyPr/>
                    <a:lstStyle/>
                    <a:p>
                      <a:r>
                        <a:rPr lang="fr-FR" sz="1100"/>
                        <a:t>Database Type</a:t>
                      </a:r>
                      <a:endParaRPr lang="de-DE" sz="1100"/>
                    </a:p>
                  </a:txBody>
                  <a:tcPr marL="57746" marR="57746" marT="28873" marB="28873"/>
                </a:tc>
                <a:tc>
                  <a:txBody>
                    <a:bodyPr/>
                    <a:lstStyle/>
                    <a:p>
                      <a:r>
                        <a:rPr lang="fr-FR" sz="1100"/>
                        <a:t>T-SQL</a:t>
                      </a:r>
                      <a:endParaRPr lang="de-DE" sz="1100"/>
                    </a:p>
                  </a:txBody>
                  <a:tcPr marL="57746" marR="57746" marT="28873" marB="28873"/>
                </a:tc>
                <a:tc>
                  <a:txBody>
                    <a:bodyPr/>
                    <a:lstStyle/>
                    <a:p>
                      <a:r>
                        <a:rPr lang="fr-FR" sz="1100"/>
                        <a:t>SQL</a:t>
                      </a:r>
                      <a:endParaRPr lang="de-DE" sz="1100"/>
                    </a:p>
                  </a:txBody>
                  <a:tcPr marL="57746" marR="57746" marT="28873" marB="28873"/>
                </a:tc>
                <a:tc>
                  <a:txBody>
                    <a:bodyPr/>
                    <a:lstStyle/>
                    <a:p>
                      <a:r>
                        <a:rPr lang="fr-FR" sz="1100"/>
                        <a:t>Object-relational,</a:t>
                      </a:r>
                    </a:p>
                    <a:p>
                      <a:r>
                        <a:rPr lang="fr-FR" sz="1100"/>
                        <a:t>SQL</a:t>
                      </a:r>
                      <a:endParaRPr lang="de-DE" sz="1100"/>
                    </a:p>
                  </a:txBody>
                  <a:tcPr marL="57746" marR="57746" marT="28873" marB="28873"/>
                </a:tc>
                <a:extLst>
                  <a:ext uri="{0D108BD9-81ED-4DB2-BD59-A6C34878D82A}">
                    <a16:rowId xmlns:a16="http://schemas.microsoft.com/office/drawing/2014/main" val="3867824996"/>
                  </a:ext>
                </a:extLst>
              </a:tr>
              <a:tr h="773791">
                <a:tc>
                  <a:txBody>
                    <a:bodyPr/>
                    <a:lstStyle/>
                    <a:p>
                      <a:r>
                        <a:rPr lang="fr-FR" sz="1100"/>
                        <a:t>Data types supported</a:t>
                      </a:r>
                      <a:endParaRPr lang="de-DE" sz="1100"/>
                    </a:p>
                  </a:txBody>
                  <a:tcPr marL="57746" marR="57746" marT="28873" marB="288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Structured/semi-structured/Unstructured</a:t>
                      </a:r>
                      <a:endParaRPr lang="de-DE" sz="1100"/>
                    </a:p>
                    <a:p>
                      <a:endParaRPr lang="de-DE" sz="1100"/>
                    </a:p>
                  </a:txBody>
                  <a:tcPr marL="57746" marR="57746" marT="28873" marB="28873"/>
                </a:tc>
                <a:tc>
                  <a:txBody>
                    <a:bodyPr/>
                    <a:lstStyle/>
                    <a:p>
                      <a:r>
                        <a:rPr lang="fr-FR" sz="1100"/>
                        <a:t>Structured/semi-struc</a:t>
                      </a:r>
                      <a:endParaRPr lang="de-DE" sz="1100"/>
                    </a:p>
                  </a:txBody>
                  <a:tcPr marL="57746" marR="57746" marT="28873" marB="288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Structured/semi-structured/Unstructured</a:t>
                      </a:r>
                      <a:endParaRPr lang="de-DE" sz="1100"/>
                    </a:p>
                    <a:p>
                      <a:endParaRPr lang="de-DE" sz="1100"/>
                    </a:p>
                  </a:txBody>
                  <a:tcPr marL="57746" marR="57746" marT="28873" marB="28873"/>
                </a:tc>
                <a:extLst>
                  <a:ext uri="{0D108BD9-81ED-4DB2-BD59-A6C34878D82A}">
                    <a16:rowId xmlns:a16="http://schemas.microsoft.com/office/drawing/2014/main" val="2407746401"/>
                  </a:ext>
                </a:extLst>
              </a:tr>
              <a:tr h="288728">
                <a:tc>
                  <a:txBody>
                    <a:bodyPr/>
                    <a:lstStyle/>
                    <a:p>
                      <a:endParaRPr lang="de-DE" sz="1100"/>
                    </a:p>
                  </a:txBody>
                  <a:tcPr marL="57746" marR="57746" marT="28873" marB="28873"/>
                </a:tc>
                <a:tc>
                  <a:txBody>
                    <a:bodyPr/>
                    <a:lstStyle/>
                    <a:p>
                      <a:endParaRPr lang="de-DE" sz="1100"/>
                    </a:p>
                  </a:txBody>
                  <a:tcPr marL="57746" marR="57746" marT="28873" marB="28873"/>
                </a:tc>
                <a:tc>
                  <a:txBody>
                    <a:bodyPr/>
                    <a:lstStyle/>
                    <a:p>
                      <a:endParaRPr lang="de-DE" sz="1100"/>
                    </a:p>
                  </a:txBody>
                  <a:tcPr marL="57746" marR="57746" marT="28873" marB="28873"/>
                </a:tc>
                <a:tc>
                  <a:txBody>
                    <a:bodyPr/>
                    <a:lstStyle/>
                    <a:p>
                      <a:endParaRPr lang="de-DE" sz="1100"/>
                    </a:p>
                  </a:txBody>
                  <a:tcPr marL="57746" marR="57746" marT="28873" marB="28873"/>
                </a:tc>
                <a:extLst>
                  <a:ext uri="{0D108BD9-81ED-4DB2-BD59-A6C34878D82A}">
                    <a16:rowId xmlns:a16="http://schemas.microsoft.com/office/drawing/2014/main" val="3629592080"/>
                  </a:ext>
                </a:extLst>
              </a:tr>
            </a:tbl>
          </a:graphicData>
        </a:graphic>
      </p:graphicFrame>
    </p:spTree>
    <p:extLst>
      <p:ext uri="{BB962C8B-B14F-4D97-AF65-F5344CB8AC3E}">
        <p14:creationId xmlns:p14="http://schemas.microsoft.com/office/powerpoint/2010/main" val="1236876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0</TotalTime>
  <Words>413</Words>
  <Application>Microsoft Office PowerPoint</Application>
  <PresentationFormat>Bildschirmpräsentation (4:3)</PresentationFormat>
  <Paragraphs>52</Paragraphs>
  <Slides>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vt:i4>
      </vt:variant>
    </vt:vector>
  </HeadingPairs>
  <TitlesOfParts>
    <vt:vector size="10" baseType="lpstr">
      <vt:lpstr>Arial Rounded MT Bold</vt:lpstr>
      <vt:lpstr>Tw Cen MT</vt:lpstr>
      <vt:lpstr>Tw Cen MT Condensed</vt:lpstr>
      <vt:lpstr>Wingdings 3</vt:lpstr>
      <vt:lpstr>Integral</vt:lpstr>
      <vt:lpstr>Relational RDBMS</vt:lpstr>
      <vt:lpstr>What is MySQL and what are its functionalities?</vt:lpstr>
      <vt:lpstr>PostgreSQL and its functionalities:</vt:lpstr>
      <vt:lpstr>SQL SERVER </vt:lpstr>
      <vt:lpstr>The difference between SQL SERVER, MySQL and PostgreSQL: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RDBMS</dc:title>
  <dc:creator>LENOVO</dc:creator>
  <cp:lastModifiedBy>henichafai91@gmail.com</cp:lastModifiedBy>
  <cp:revision>8</cp:revision>
  <dcterms:created xsi:type="dcterms:W3CDTF">2022-06-06T17:25:15Z</dcterms:created>
  <dcterms:modified xsi:type="dcterms:W3CDTF">2022-06-08T11:12:56Z</dcterms:modified>
</cp:coreProperties>
</file>